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02184"/>
            <a:ext cx="116014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16-bit Parallel Communication Link Between FPGAs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5953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A Robust Asynchronous CDC Bridge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1095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RAQEEB | SAKSHAM | AAKARSH | SOHAIL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09625" y="200025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When data crosses asynchronous clock domains (like `clk_A` to `clk_B`), the receiving flip-flop can violate its setup/hold times.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09625" y="269170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This can cause the flop's output to enter a "metastable" state—an unknown voltage level that is neither 0 nor 1.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3383160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This state eventually resolves, but it takes an unknown amount of time, leading to unpredictable behavior, data corruption, and system failure.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434890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Our project connects two FPGAs, each with its *own* clock. This is a classic Clock Domain Crossing (CDC) problem.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047875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739330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430785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396531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The Core Problem: Metastability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2200"/>
            <a:ext cx="5286375" cy="3085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62200"/>
            <a:ext cx="5286375" cy="30859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62025" y="27527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Project Goal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3343275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To design a **lossless** 16-bit parallel link that *guarantees* safe data transfer between two asynchronous clock domains.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1988" y="4268580"/>
            <a:ext cx="4505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The system must be robust, reliable, and prevent any data corruption from metastability.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724650" y="27527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Our Solution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724650" y="3343275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A **4-Phase `VALID/READY` Handshake Protocol**.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724650" y="3789015"/>
            <a:ext cx="45053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This provides "backpressure." The Transmitter (master) *asks* to send data (`VALID`). The Receiver (slave) *agrees* when it's ready (`READY`). This is the core optimization for **reliability**.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Project Goal &amp; Our 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169545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The system is split into two independent domains, isolated from each other: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498723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The domains are only linked by the asynchronous data bus and the two 1-bit handshake signals.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09625" y="254883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Transmitter (TX) Domain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 Operates on `clk_tx`. It contains a `FIFO` to buffer outgoing data and an FSM to manage the handshake.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09625" y="360610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Receiver (RX) Domain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 Operates on `clk_rx`. It contains a `FIFO` to buffer incoming data and an FSM to acknowledge it.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5964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65373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4125" y="1695450"/>
            <a:ext cx="5857875" cy="30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5619750" y="2718494"/>
            <a:ext cx="9525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3085623" y="3042344"/>
            <a:ext cx="6020752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6F1FF"/>
                </a:solidFill>
                <a:latin typeface="Poppins"/>
                <a:ea typeface="Poppins"/>
                <a:cs typeface="Poppins"/>
                <a:sym typeface="Poppins"/>
              </a:rPr>
              <a:t>The Building Blocks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833937" y="4090094"/>
            <a:ext cx="2524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(The Core Verilog Modules)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5069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71500" y="1985069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Purpose: The Stabilizer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261371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To safely pass a 1-bit signal (`valid`, `ready`) from one clock domain to another.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09625" y="333375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**How it works:** A 2-Flip-Flop pipeline.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09625" y="375091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The 1st flop (`s1_sync_reg`) samples the async signal. It is allowed to go metastable.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09625" y="444237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The 2nd flop (`s2_sync_reg`) samples the 1st flop one cycle later. This gives the 1st flop time to resolve to a stable 0 or 1.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09625" y="513382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This makes the Mean Time Between Failure (MTBF) astronomically high.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94594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3381375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3798540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4489995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5181451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Module 1: The 2-FF Synchronizer (`cdc_sync`)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6334125" y="2468016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Purpose: The Buffer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334125" y="3096666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Provides "elastic" buffering *within* each clock domain.</a:t>
            </a:r>
            <a:endParaRPr/>
          </a:p>
        </p:txBody>
      </p:sp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7337" y="2247900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572250" y="3542407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Transmitter FIFO: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 Allows the user to "burst" data in. The FSM then sends it safely, one-by-one.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572250" y="4233862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Receiver FIFO: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 Stores the received data, allowing the user to read it out at their own pace.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572250" y="4925317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Uses 5-bit pointers for reliable `full` and `empty` detection.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334125" y="3590032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34125" y="4281487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334125" y="4972942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Module 2: The Synchronous FIFO (`FIFO`)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8014"/>
            <a:ext cx="3429000" cy="3394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08014"/>
            <a:ext cx="3429000" cy="3394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208014"/>
            <a:ext cx="3429000" cy="339447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866775" y="3217664"/>
            <a:ext cx="127015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State: IDLE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66775" y="3846314"/>
            <a:ext cx="2838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Waits for data to appear in its local FIFO (`!fifo_empty`). When data is present, it reads one word and moves to the next state.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676775" y="3217664"/>
            <a:ext cx="215026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State: WAIT_ACK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676775" y="3846314"/>
            <a:ext cx="2838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Places the data on `parallel_data_out`. Asserts `parallel_valid_out` HIGH, signaling to the receiver. Waits for `ready_sync` to go HIGH.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486775" y="3217664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State: WAIT_READY_LOW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486775" y="4179689"/>
            <a:ext cx="2838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The receiver has acknowledged. De-asserts `parallel_valid_out` LOW. Waits for `ready_sync` to go LOW to complete the handshake.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52233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52233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522339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Module 3: `transmitter` FSM (The Master)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8014"/>
            <a:ext cx="3429000" cy="3394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08014"/>
            <a:ext cx="3429000" cy="33944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208014"/>
            <a:ext cx="3429000" cy="339447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866775" y="3217664"/>
            <a:ext cx="127015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State: IDLE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66775" y="3846314"/>
            <a:ext cx="2838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Waits for `valid_sync` to go HIGH. Critically, it also checks if its own local FIFO is *not* full (`!fifo_full`).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676775" y="3217664"/>
            <a:ext cx="26503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Action: Acknowledge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676775" y="3846314"/>
            <a:ext cx="2838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If `valid_sync` is HIGH and it has space, it latches the data from `parallel_data_in` and asserts `parallel_ready_out` HIGH.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486775" y="3217664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State: WAIT_VALID_LOW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486775" y="4179689"/>
            <a:ext cx="28384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Waits for `valid_sync` to go LOW. This confirms the transmitter saw the acknowledgment. It then writes the latched data to its FIFO and de-asserts `ready`.</a:t>
            </a:r>
            <a:endParaRPr/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522339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52233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52233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Module 4: `Receiver` FSM (The Slave)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717798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The 4-Phase Handshake in Action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71500" y="226695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This timing diagram shows the complete, lossless transfer of one word.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617979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The cycle is now complete and ready for the next transfer.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809625" y="284604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1. TX Asserts VALID:</a:t>
            </a:r>
            <a:r>
              <a:rPr b="0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 Transmitter puts data on the bus and raises `valid`.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809625" y="359851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2. RX Asserts READY:</a:t>
            </a:r>
            <a:r>
              <a:rPr b="0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 Receiver sees `valid`, latches the data, and raises `ready`.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809625" y="435099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3. TX De-asserts VALID:</a:t>
            </a:r>
            <a:r>
              <a:rPr b="0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 Transmitter sees `ready`, knows the data was taken, and drops `valid`.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809625" y="510346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4. RX De-asserts READY:</a:t>
            </a:r>
            <a:r>
              <a:rPr b="0" i="0" lang="en-US" sz="150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 Receiver sees `valid` is low, drops `ready`, and writes to its FIFO.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289366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364614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439861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515109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2200"/>
            <a:ext cx="5286375" cy="3085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62200"/>
            <a:ext cx="5286375" cy="308595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962025" y="27527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Pro: Reliability (Lossless)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962025" y="3343275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Our design is **robust and guaranteed lossless**. The `READY` signal provides essential "backpressure."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962025" y="4063305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Data is *never* lost if the receiver is busy or its FIFO is full. This is the correct, safe, professional solution for critical data.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6724650" y="27527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Con: Latency (Slow)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724650" y="3343275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The 4-phase handshake is **slow on a per-word basis**. We must pay a multi-cycle latency penalty for the *entire round-trip* acknowledgment.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724650" y="4337595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This includes propagation delay and 2-3 cycles of synchronization on *both* sides of the bridge.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Analysis: The Core Trade-Off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How to Increase Throughput?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571500" y="262890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Modify the protocol to be burst-oriented, similar to AXI-Stream.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71500" y="4629001"/>
            <a:ext cx="528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 We pay the latency penalty **once per burst**, not once per word, dramatically increasing the data rate.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809625" y="3074650"/>
            <a:ext cx="574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`VALID` stays HIGH for an entire *burst* of data (e.g., 64 words).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809625" y="349180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`READY` stays HIGH as long as the Receiver's FIFO has space.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809625" y="3908970"/>
            <a:ext cx="504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Data is transferred on **every single clock cycle** as long as both signals are HIGH.</a:t>
            </a:r>
            <a:endParaRPr/>
          </a:p>
        </p:txBody>
      </p:sp>
      <p:pic>
        <p:nvPicPr>
          <p:cNvPr descr="image.png"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571500" y="3122265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571500" y="3539430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3956595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►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CD6F6"/>
                </a:solidFill>
                <a:latin typeface="Poppins"/>
                <a:ea typeface="Poppins"/>
                <a:cs typeface="Poppins"/>
                <a:sym typeface="Poppins"/>
              </a:rPr>
              <a:t>Future Optimization: Burst Transfers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/>
          <p:nvPr/>
        </p:nvSpPr>
        <p:spPr>
          <a:xfrm>
            <a:off x="5619750" y="2215753"/>
            <a:ext cx="9525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4330779" y="2539603"/>
            <a:ext cx="353044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6F1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3076575" y="3587353"/>
            <a:ext cx="60388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We successfully designed a **robust, lossless** 16-bit CDC bridge.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2328847" y="3867788"/>
            <a:ext cx="8100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Solved the critical problem of metastability using **2-FF synchronizers**.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2771775" y="4257675"/>
            <a:ext cx="7454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Guaranteed data integrity with a **4-phase `VALID/READY` handshake**.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3190875" y="4592835"/>
            <a:ext cx="5810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Identified a clear path to high-throughput via **burst transfers**.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295275" y="215354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6F1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571500" y="4370933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RAQEEB | SAKSHAM | AAKARSH | SOHAIL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